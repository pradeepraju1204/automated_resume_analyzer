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22" r:id="rId5"/>
    <p:sldId id="321" r:id="rId6"/>
    <p:sldId id="320" r:id="rId7"/>
    <p:sldId id="319" r:id="rId8"/>
    <p:sldId id="318" r:id="rId9"/>
    <p:sldId id="316" r:id="rId10"/>
    <p:sldId id="315" r:id="rId11"/>
    <p:sldId id="314" r:id="rId12"/>
    <p:sldId id="313" r:id="rId13"/>
    <p:sldId id="312" r:id="rId14"/>
    <p:sldId id="31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78" d="100"/>
          <a:sy n="78" d="100"/>
        </p:scale>
        <p:origin x="878" y="7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7/26/2026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7/26/2026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66685" y="1651819"/>
            <a:ext cx="9645444" cy="3057833"/>
          </a:xfrm>
        </p:spPr>
        <p:txBody>
          <a:bodyPr>
            <a:normAutofit/>
          </a:bodyPr>
          <a:lstStyle/>
          <a:p>
            <a:r>
              <a:rPr lang="en-IN" b="1" dirty="0">
                <a:latin typeface="Bahnschrift SemiBold Condensed" panose="020B0502040204020203" pitchFamily="34" charset="0"/>
              </a:rPr>
              <a:t>Automated Resume Analyzer for Job Portals</a:t>
            </a:r>
            <a:br>
              <a:rPr lang="en-IN" b="1" dirty="0">
                <a:latin typeface="Bahnschrift SemiBold Condensed" panose="020B0502040204020203" pitchFamily="34" charset="0"/>
              </a:rPr>
            </a:br>
            <a:r>
              <a:rPr lang="en-IN" b="1" dirty="0">
                <a:latin typeface="Bahnschrift SemiBold Condensed" panose="020B0502040204020203" pitchFamily="34" charset="0"/>
              </a:rPr>
              <a:t>                              </a:t>
            </a:r>
            <a:r>
              <a:rPr lang="en-IN" sz="3600" b="1" dirty="0">
                <a:latin typeface="Bahnschrift SemiBold Condensed" panose="020B0502040204020203" pitchFamily="34" charset="0"/>
              </a:rPr>
              <a:t>-</a:t>
            </a:r>
            <a:r>
              <a:rPr lang="en-IN" sz="3200" b="1" dirty="0">
                <a:latin typeface="Bahnschrift SemiBold Condensed" panose="020B0502040204020203" pitchFamily="34" charset="0"/>
              </a:rPr>
              <a:t>PAMUDURTHI PRADEEP RAJU</a:t>
            </a:r>
            <a:endParaRPr lang="en-US" sz="3200" dirty="0">
              <a:latin typeface="Bahnschrift SemiBold Condensed" panose="020B0502040204020203" pitchFamily="34" charset="0"/>
            </a:endParaRP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022555" y="255640"/>
            <a:ext cx="9910916" cy="648928"/>
          </a:xfrm>
        </p:spPr>
        <p:txBody>
          <a:bodyPr/>
          <a:lstStyle/>
          <a:p>
            <a:r>
              <a:rPr lang="en-IN" dirty="0"/>
              <a:t>What is an Automated Resume Analyzer?</a:t>
            </a:r>
            <a:endParaRPr lang="en-US" dirty="0"/>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927257" y="1307690"/>
            <a:ext cx="9910916" cy="5550310"/>
          </a:xfrm>
        </p:spPr>
        <p:txBody>
          <a:bodyPr>
            <a:normAutofit/>
          </a:bodyPr>
          <a:lstStyle/>
          <a:p>
            <a:pPr marL="0" indent="0">
              <a:buNone/>
            </a:pPr>
            <a:r>
              <a:rPr lang="en-IN" dirty="0"/>
              <a:t>An Automated Resume Analyzer is an intelligent software application that automatically examines resumes submitted by job applicants and compares them with job descriptions. The system helps recruiters shortlist the best candidates using Artificial Intelligence (AI), Natural Language Processing (NLP), and Machine Learning (ML).</a:t>
            </a:r>
          </a:p>
          <a:p>
            <a:pPr marL="0" indent="0">
              <a:buNone/>
            </a:pPr>
            <a:r>
              <a:rPr lang="en-IN" dirty="0"/>
              <a:t>Traditional recruitment involves manually reviewing hundreds or thousands of resumes, which is time-consuming and prone to human error. An automated system speeds up this process by evaluating resumes based on predefined criteria and ranking candidates according to their suitability.</a:t>
            </a:r>
          </a:p>
          <a:p>
            <a:r>
              <a:rPr lang="en-IN" b="1" dirty="0"/>
              <a:t>Key Features</a:t>
            </a:r>
          </a:p>
          <a:p>
            <a:r>
              <a:rPr lang="en-IN" dirty="0"/>
              <a:t>Resume Upload </a:t>
            </a:r>
          </a:p>
          <a:p>
            <a:r>
              <a:rPr lang="en-IN" dirty="0"/>
              <a:t>Resume Parsing </a:t>
            </a:r>
          </a:p>
          <a:p>
            <a:r>
              <a:rPr lang="en-IN" dirty="0"/>
              <a:t>Skill Extraction </a:t>
            </a:r>
          </a:p>
          <a:p>
            <a:r>
              <a:rPr lang="en-IN" dirty="0"/>
              <a:t>Keyword Matching </a:t>
            </a:r>
          </a:p>
          <a:p>
            <a:r>
              <a:rPr lang="en-IN" dirty="0"/>
              <a:t>Candidate Ranking </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D0E47E-D228-15EB-5886-33E9AA181D03}"/>
              </a:ext>
            </a:extLst>
          </p:cNvPr>
          <p:cNvSpPr>
            <a:spLocks noGrp="1"/>
          </p:cNvSpPr>
          <p:nvPr>
            <p:ph type="title"/>
          </p:nvPr>
        </p:nvSpPr>
        <p:spPr>
          <a:xfrm>
            <a:off x="914400" y="294969"/>
            <a:ext cx="7108723" cy="993058"/>
          </a:xfrm>
        </p:spPr>
        <p:txBody>
          <a:bodyPr>
            <a:normAutofit/>
          </a:bodyPr>
          <a:lstStyle/>
          <a:p>
            <a:r>
              <a:rPr lang="en-IN" sz="6000" dirty="0"/>
              <a:t>Problem Statement</a:t>
            </a:r>
            <a:endParaRPr lang="en-US" sz="6000" dirty="0"/>
          </a:p>
        </p:txBody>
      </p:sp>
      <p:sp>
        <p:nvSpPr>
          <p:cNvPr id="10" name="Rectangle 9">
            <a:extLst>
              <a:ext uri="{FF2B5EF4-FFF2-40B4-BE49-F238E27FC236}">
                <a16:creationId xmlns:a16="http://schemas.microsoft.com/office/drawing/2014/main" id="{E558FC47-D684-7AFB-EA97-4B07A87A8C0A}"/>
              </a:ext>
            </a:extLst>
          </p:cNvPr>
          <p:cNvSpPr/>
          <p:nvPr/>
        </p:nvSpPr>
        <p:spPr>
          <a:xfrm>
            <a:off x="1042219" y="1288027"/>
            <a:ext cx="10982633" cy="54962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a:t> </a:t>
            </a:r>
            <a:r>
              <a:rPr lang="en-IN" sz="3600" dirty="0">
                <a:latin typeface="Bahnschrift SemiBold Condensed" panose="020B0502040204020203" pitchFamily="34" charset="0"/>
              </a:rPr>
              <a:t>Recruiters face several challenges during hiring:</a:t>
            </a:r>
          </a:p>
          <a:p>
            <a:pPr marL="457200" indent="-457200">
              <a:buFont typeface="Wingdings" panose="05000000000000000000" pitchFamily="2" charset="2"/>
              <a:buChar char="v"/>
            </a:pPr>
            <a:r>
              <a:rPr lang="en-IN" sz="2800" dirty="0"/>
              <a:t>Large number of resumes </a:t>
            </a:r>
          </a:p>
          <a:p>
            <a:pPr marL="457200" indent="-457200">
              <a:buFont typeface="Wingdings" panose="05000000000000000000" pitchFamily="2" charset="2"/>
              <a:buChar char="v"/>
            </a:pPr>
            <a:r>
              <a:rPr lang="en-IN" sz="2800" dirty="0"/>
              <a:t>Time-consuming manual screening </a:t>
            </a:r>
          </a:p>
          <a:p>
            <a:pPr marL="457200" indent="-457200">
              <a:buFont typeface="Wingdings" panose="05000000000000000000" pitchFamily="2" charset="2"/>
              <a:buChar char="v"/>
            </a:pPr>
            <a:r>
              <a:rPr lang="en-IN" sz="2800" dirty="0"/>
              <a:t>Human bias </a:t>
            </a:r>
          </a:p>
          <a:p>
            <a:pPr marL="457200" indent="-457200">
              <a:buFont typeface="Wingdings" panose="05000000000000000000" pitchFamily="2" charset="2"/>
              <a:buChar char="v"/>
            </a:pPr>
            <a:r>
              <a:rPr lang="en-IN" sz="2800" dirty="0"/>
              <a:t>Difficulty identifying suitable candidates </a:t>
            </a:r>
          </a:p>
          <a:p>
            <a:pPr marL="457200" indent="-457200">
              <a:buFont typeface="Wingdings" panose="05000000000000000000" pitchFamily="2" charset="2"/>
              <a:buChar char="v"/>
            </a:pPr>
            <a:r>
              <a:rPr lang="en-IN" sz="2800" dirty="0"/>
              <a:t>Missing qualified applicants due to manual filtering</a:t>
            </a:r>
          </a:p>
          <a:p>
            <a:r>
              <a:rPr lang="en-IN" sz="2800" b="1" u="sng" dirty="0">
                <a:solidFill>
                  <a:srgbClr val="C00000"/>
                </a:solidFill>
              </a:rPr>
              <a:t>Challenges:</a:t>
            </a:r>
          </a:p>
          <a:p>
            <a:pPr marL="457200" indent="-457200">
              <a:buFont typeface="Wingdings" panose="05000000000000000000" pitchFamily="2" charset="2"/>
              <a:buChar char="v"/>
            </a:pPr>
            <a:r>
              <a:rPr lang="en-IN" sz="2800" dirty="0"/>
              <a:t>Low hiring efficiency </a:t>
            </a:r>
          </a:p>
          <a:p>
            <a:pPr marL="457200" indent="-457200">
              <a:buFont typeface="Wingdings" panose="05000000000000000000" pitchFamily="2" charset="2"/>
              <a:buChar char="v"/>
            </a:pPr>
            <a:r>
              <a:rPr lang="en-IN" sz="2800" dirty="0"/>
              <a:t>Delayed recruitment process </a:t>
            </a:r>
          </a:p>
          <a:p>
            <a:pPr marL="457200" indent="-457200">
              <a:buFont typeface="Wingdings" panose="05000000000000000000" pitchFamily="2" charset="2"/>
              <a:buChar char="v"/>
            </a:pPr>
            <a:r>
              <a:rPr lang="en-IN" sz="2800" dirty="0"/>
              <a:t>Increased operational cost </a:t>
            </a:r>
          </a:p>
          <a:p>
            <a:pPr marL="457200" indent="-457200">
              <a:buFont typeface="Wingdings" panose="05000000000000000000" pitchFamily="2" charset="2"/>
              <a:buChar char="v"/>
            </a:pPr>
            <a:r>
              <a:rPr lang="en-IN" sz="2800" dirty="0"/>
              <a:t>Poor candidate experience</a:t>
            </a:r>
          </a:p>
          <a:p>
            <a:endParaRPr lang="en-IN" sz="2800" dirty="0"/>
          </a:p>
        </p:txBody>
      </p:sp>
    </p:spTree>
    <p:extLst>
      <p:ext uri="{BB962C8B-B14F-4D97-AF65-F5344CB8AC3E}">
        <p14:creationId xmlns:p14="http://schemas.microsoft.com/office/powerpoint/2010/main" val="3752118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0FEFBF-60FD-0161-6F6E-89EE39389CEE}"/>
              </a:ext>
            </a:extLst>
          </p:cNvPr>
          <p:cNvSpPr>
            <a:spLocks noGrp="1"/>
          </p:cNvSpPr>
          <p:nvPr>
            <p:ph type="title"/>
          </p:nvPr>
        </p:nvSpPr>
        <p:spPr>
          <a:xfrm>
            <a:off x="1052052" y="261256"/>
            <a:ext cx="10225545" cy="839957"/>
          </a:xfrm>
        </p:spPr>
        <p:txBody>
          <a:bodyPr/>
          <a:lstStyle/>
          <a:p>
            <a:r>
              <a:rPr lang="en-IN" u="sng" dirty="0">
                <a:solidFill>
                  <a:srgbClr val="C00000"/>
                </a:solidFill>
              </a:rPr>
              <a:t>Objectives:</a:t>
            </a:r>
            <a:endParaRPr lang="en-ZA" u="sng" dirty="0">
              <a:solidFill>
                <a:srgbClr val="C00000"/>
              </a:solidFill>
            </a:endParaRPr>
          </a:p>
        </p:txBody>
      </p:sp>
      <p:sp>
        <p:nvSpPr>
          <p:cNvPr id="3" name="Text Placeholder 2">
            <a:extLst>
              <a:ext uri="{FF2B5EF4-FFF2-40B4-BE49-F238E27FC236}">
                <a16:creationId xmlns:a16="http://schemas.microsoft.com/office/drawing/2014/main" id="{BEE35B0C-E9C5-4664-05B0-5413A2A0859F}"/>
              </a:ext>
            </a:extLst>
          </p:cNvPr>
          <p:cNvSpPr>
            <a:spLocks noGrp="1"/>
          </p:cNvSpPr>
          <p:nvPr>
            <p:ph type="body" sz="quarter" idx="12"/>
          </p:nvPr>
        </p:nvSpPr>
        <p:spPr>
          <a:xfrm>
            <a:off x="1052052" y="1179871"/>
            <a:ext cx="10225546" cy="4748982"/>
          </a:xfrm>
        </p:spPr>
        <p:txBody>
          <a:bodyPr>
            <a:normAutofit/>
          </a:bodyPr>
          <a:lstStyle/>
          <a:p>
            <a:pPr marL="342900" indent="-342900">
              <a:buFont typeface="Wingdings" panose="05000000000000000000" pitchFamily="2" charset="2"/>
              <a:buChar char="§"/>
            </a:pPr>
            <a:r>
              <a:rPr lang="en-IN" sz="3600" dirty="0"/>
              <a:t>Automate resume screening </a:t>
            </a:r>
          </a:p>
          <a:p>
            <a:pPr marL="342900" indent="-342900">
              <a:buFont typeface="Wingdings" panose="05000000000000000000" pitchFamily="2" charset="2"/>
              <a:buChar char="§"/>
            </a:pPr>
            <a:r>
              <a:rPr lang="en-IN" sz="3600" dirty="0"/>
              <a:t>Reduce recruitment time </a:t>
            </a:r>
          </a:p>
          <a:p>
            <a:pPr marL="342900" indent="-342900">
              <a:buFont typeface="Wingdings" panose="05000000000000000000" pitchFamily="2" charset="2"/>
              <a:buChar char="§"/>
            </a:pPr>
            <a:r>
              <a:rPr lang="en-IN" sz="3600" dirty="0"/>
              <a:t>Improve hiring accuracy </a:t>
            </a:r>
          </a:p>
          <a:p>
            <a:pPr marL="342900" indent="-342900">
              <a:buFont typeface="Wingdings" panose="05000000000000000000" pitchFamily="2" charset="2"/>
              <a:buChar char="§"/>
            </a:pPr>
            <a:r>
              <a:rPr lang="en-IN" sz="3600" dirty="0"/>
              <a:t>Eliminate manual effort </a:t>
            </a:r>
          </a:p>
          <a:p>
            <a:pPr marL="342900" indent="-342900">
              <a:buFont typeface="Wingdings" panose="05000000000000000000" pitchFamily="2" charset="2"/>
              <a:buChar char="§"/>
            </a:pPr>
            <a:r>
              <a:rPr lang="en-IN" sz="3600" dirty="0"/>
              <a:t>Match resumes with job descriptions </a:t>
            </a:r>
          </a:p>
          <a:p>
            <a:pPr marL="342900" indent="-342900">
              <a:buFont typeface="Wingdings" panose="05000000000000000000" pitchFamily="2" charset="2"/>
              <a:buChar char="§"/>
            </a:pPr>
            <a:r>
              <a:rPr lang="en-IN" sz="3600" dirty="0"/>
              <a:t>Rank candidates automatically </a:t>
            </a:r>
          </a:p>
          <a:p>
            <a:pPr marL="342900" indent="-342900">
              <a:buFont typeface="Wingdings" panose="05000000000000000000" pitchFamily="2" charset="2"/>
              <a:buChar char="§"/>
            </a:pPr>
            <a:r>
              <a:rPr lang="en-IN" sz="3600" dirty="0"/>
              <a:t>Generate resume scores </a:t>
            </a:r>
          </a:p>
          <a:p>
            <a:pPr marL="342900" indent="-342900">
              <a:buFont typeface="Wingdings" panose="05000000000000000000" pitchFamily="2" charset="2"/>
              <a:buChar char="§"/>
            </a:pPr>
            <a:r>
              <a:rPr lang="en-IN" sz="3600" dirty="0"/>
              <a:t>Improve ATS compatibility </a:t>
            </a:r>
          </a:p>
          <a:p>
            <a:pPr marL="342900" indent="-342900">
              <a:buFont typeface="Wingdings" panose="05000000000000000000" pitchFamily="2" charset="2"/>
              <a:buChar char="§"/>
            </a:pPr>
            <a:r>
              <a:rPr lang="en-IN" sz="3600" dirty="0"/>
              <a:t>Recommend improvements to candidates </a:t>
            </a:r>
          </a:p>
          <a:p>
            <a:pPr marL="342900" indent="-342900">
              <a:buFont typeface="Wingdings" panose="05000000000000000000" pitchFamily="2" charset="2"/>
              <a:buChar char="§"/>
            </a:pPr>
            <a:endParaRPr lang="en-IN" sz="3600" dirty="0"/>
          </a:p>
        </p:txBody>
      </p:sp>
    </p:spTree>
    <p:extLst>
      <p:ext uri="{BB962C8B-B14F-4D97-AF65-F5344CB8AC3E}">
        <p14:creationId xmlns:p14="http://schemas.microsoft.com/office/powerpoint/2010/main" val="3421680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EBC60-AA38-5DEF-3160-0CAA68F3D28C}"/>
              </a:ext>
            </a:extLst>
          </p:cNvPr>
          <p:cNvSpPr>
            <a:spLocks noGrp="1"/>
          </p:cNvSpPr>
          <p:nvPr>
            <p:ph type="title"/>
          </p:nvPr>
        </p:nvSpPr>
        <p:spPr>
          <a:xfrm>
            <a:off x="983227" y="98323"/>
            <a:ext cx="9636264" cy="1057442"/>
          </a:xfrm>
        </p:spPr>
        <p:txBody>
          <a:bodyPr/>
          <a:lstStyle/>
          <a:p>
            <a:r>
              <a:rPr lang="en-IN" u="sng" dirty="0">
                <a:solidFill>
                  <a:srgbClr val="C00000"/>
                </a:solidFill>
              </a:rPr>
              <a:t>Existing System:</a:t>
            </a:r>
            <a:endParaRPr lang="en-ZA" u="sng" dirty="0">
              <a:solidFill>
                <a:srgbClr val="C00000"/>
              </a:solidFill>
            </a:endParaRPr>
          </a:p>
        </p:txBody>
      </p:sp>
      <p:sp>
        <p:nvSpPr>
          <p:cNvPr id="3" name="Content Placeholder 2">
            <a:extLst>
              <a:ext uri="{FF2B5EF4-FFF2-40B4-BE49-F238E27FC236}">
                <a16:creationId xmlns:a16="http://schemas.microsoft.com/office/drawing/2014/main" id="{1EBEE570-1B5E-FFD1-485D-D77E4E6FE7C0}"/>
              </a:ext>
            </a:extLst>
          </p:cNvPr>
          <p:cNvSpPr>
            <a:spLocks noGrp="1"/>
          </p:cNvSpPr>
          <p:nvPr>
            <p:ph sz="quarter" idx="12"/>
          </p:nvPr>
        </p:nvSpPr>
        <p:spPr>
          <a:xfrm>
            <a:off x="1081548" y="1155765"/>
            <a:ext cx="8920869" cy="5072420"/>
          </a:xfrm>
        </p:spPr>
        <p:txBody>
          <a:bodyPr/>
          <a:lstStyle/>
          <a:p>
            <a:r>
              <a:rPr lang="en-IN" dirty="0"/>
              <a:t> Candidate</a:t>
            </a:r>
            <a:br>
              <a:rPr lang="en-IN" dirty="0"/>
            </a:br>
            <a:r>
              <a:rPr lang="en-IN" dirty="0"/>
              <a:t> ↓</a:t>
            </a:r>
          </a:p>
          <a:p>
            <a:r>
              <a:rPr lang="en-IN" dirty="0"/>
              <a:t>Uploads Resume</a:t>
            </a:r>
          </a:p>
          <a:p>
            <a:r>
              <a:rPr lang="en-IN" dirty="0"/>
              <a:t>↓</a:t>
            </a:r>
          </a:p>
          <a:p>
            <a:r>
              <a:rPr lang="en-IN" dirty="0"/>
              <a:t>HR Downloads Resume</a:t>
            </a:r>
          </a:p>
          <a:p>
            <a:r>
              <a:rPr lang="en-IN" dirty="0"/>
              <a:t>↓</a:t>
            </a:r>
          </a:p>
          <a:p>
            <a:r>
              <a:rPr lang="en-IN" dirty="0"/>
              <a:t>Manual Reading</a:t>
            </a:r>
          </a:p>
          <a:p>
            <a:r>
              <a:rPr lang="en-IN" dirty="0"/>
              <a:t>↓</a:t>
            </a:r>
          </a:p>
          <a:p>
            <a:r>
              <a:rPr lang="en-IN" dirty="0"/>
              <a:t>Skill Comparison</a:t>
            </a:r>
          </a:p>
          <a:p>
            <a:r>
              <a:rPr lang="en-IN" dirty="0"/>
              <a:t>↓</a:t>
            </a:r>
          </a:p>
          <a:p>
            <a:r>
              <a:rPr lang="en-IN" dirty="0"/>
              <a:t>Interview Selection</a:t>
            </a:r>
          </a:p>
          <a:p>
            <a:endParaRPr lang="en-US" dirty="0"/>
          </a:p>
        </p:txBody>
      </p:sp>
    </p:spTree>
    <p:extLst>
      <p:ext uri="{BB962C8B-B14F-4D97-AF65-F5344CB8AC3E}">
        <p14:creationId xmlns:p14="http://schemas.microsoft.com/office/powerpoint/2010/main" val="290615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6F71E8-8D71-9405-3A01-01C3B8F86877}"/>
              </a:ext>
            </a:extLst>
          </p:cNvPr>
          <p:cNvSpPr>
            <a:spLocks noGrp="1"/>
          </p:cNvSpPr>
          <p:nvPr>
            <p:ph type="title"/>
          </p:nvPr>
        </p:nvSpPr>
        <p:spPr>
          <a:xfrm>
            <a:off x="1012724" y="68826"/>
            <a:ext cx="10264864" cy="963561"/>
          </a:xfrm>
        </p:spPr>
        <p:txBody>
          <a:bodyPr>
            <a:normAutofit/>
          </a:bodyPr>
          <a:lstStyle/>
          <a:p>
            <a:r>
              <a:rPr lang="en-IN" sz="3200" u="sng" dirty="0">
                <a:solidFill>
                  <a:schemeClr val="accent6"/>
                </a:solidFill>
              </a:rPr>
              <a:t>Technologies Used:</a:t>
            </a:r>
            <a:endParaRPr lang="en-ZA" sz="3200" u="sng" dirty="0">
              <a:solidFill>
                <a:schemeClr val="accent6"/>
              </a:solidFill>
            </a:endParaRPr>
          </a:p>
        </p:txBody>
      </p:sp>
      <p:sp>
        <p:nvSpPr>
          <p:cNvPr id="7" name="Content Placeholder 6">
            <a:extLst>
              <a:ext uri="{FF2B5EF4-FFF2-40B4-BE49-F238E27FC236}">
                <a16:creationId xmlns:a16="http://schemas.microsoft.com/office/drawing/2014/main" id="{6F42FCF8-78D2-6FCB-DA3A-826C537DBCA5}"/>
              </a:ext>
            </a:extLst>
          </p:cNvPr>
          <p:cNvSpPr>
            <a:spLocks noGrp="1"/>
          </p:cNvSpPr>
          <p:nvPr>
            <p:ph sz="quarter" idx="12"/>
          </p:nvPr>
        </p:nvSpPr>
        <p:spPr>
          <a:xfrm>
            <a:off x="1012725" y="904567"/>
            <a:ext cx="10638502" cy="5272297"/>
          </a:xfrm>
        </p:spPr>
        <p:txBody>
          <a:bodyPr>
            <a:normAutofit fontScale="92500" lnSpcReduction="10000"/>
          </a:bodyPr>
          <a:lstStyle/>
          <a:p>
            <a:pPr algn="just">
              <a:lnSpc>
                <a:spcPct val="110000"/>
              </a:lnSpc>
            </a:pPr>
            <a:r>
              <a:rPr lang="en-IN" sz="3600" dirty="0"/>
              <a:t>Programming Languages:</a:t>
            </a:r>
          </a:p>
          <a:p>
            <a:pPr algn="just">
              <a:lnSpc>
                <a:spcPct val="110000"/>
              </a:lnSpc>
            </a:pPr>
            <a:r>
              <a:rPr lang="en-IN" dirty="0"/>
              <a:t>Python ,JavaScript, HTML, CSS</a:t>
            </a:r>
          </a:p>
          <a:p>
            <a:pPr algn="just">
              <a:lnSpc>
                <a:spcPct val="110000"/>
              </a:lnSpc>
            </a:pPr>
            <a:r>
              <a:rPr lang="en-IN" sz="3600" dirty="0"/>
              <a:t>Frameworks:</a:t>
            </a:r>
          </a:p>
          <a:p>
            <a:pPr algn="just">
              <a:lnSpc>
                <a:spcPct val="110000"/>
              </a:lnSpc>
            </a:pPr>
            <a:r>
              <a:rPr lang="en-IN" dirty="0"/>
              <a:t>Flask ,Django, React</a:t>
            </a:r>
          </a:p>
          <a:p>
            <a:pPr algn="just">
              <a:lnSpc>
                <a:spcPct val="110000"/>
              </a:lnSpc>
            </a:pPr>
            <a:r>
              <a:rPr lang="en-IN" sz="3600" dirty="0"/>
              <a:t>Database:</a:t>
            </a:r>
          </a:p>
          <a:p>
            <a:pPr algn="just">
              <a:lnSpc>
                <a:spcPct val="110000"/>
              </a:lnSpc>
            </a:pPr>
            <a:r>
              <a:rPr lang="en-IN" dirty="0"/>
              <a:t>MySQL, MongoDB</a:t>
            </a:r>
          </a:p>
          <a:p>
            <a:pPr algn="just">
              <a:lnSpc>
                <a:spcPct val="110000"/>
              </a:lnSpc>
            </a:pPr>
            <a:r>
              <a:rPr lang="en-IN" sz="3600" dirty="0"/>
              <a:t>Cloud:</a:t>
            </a:r>
          </a:p>
          <a:p>
            <a:pPr algn="just">
              <a:lnSpc>
                <a:spcPct val="110000"/>
              </a:lnSpc>
            </a:pPr>
            <a:r>
              <a:rPr lang="en-IN" sz="2200" dirty="0"/>
              <a:t>AWS , Firebase</a:t>
            </a:r>
          </a:p>
        </p:txBody>
      </p:sp>
    </p:spTree>
    <p:extLst>
      <p:ext uri="{BB962C8B-B14F-4D97-AF65-F5344CB8AC3E}">
        <p14:creationId xmlns:p14="http://schemas.microsoft.com/office/powerpoint/2010/main" val="554382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9558F5-C11C-C592-031B-4DA4A8420F58}"/>
              </a:ext>
            </a:extLst>
          </p:cNvPr>
          <p:cNvSpPr>
            <a:spLocks noGrp="1"/>
          </p:cNvSpPr>
          <p:nvPr>
            <p:ph type="title"/>
          </p:nvPr>
        </p:nvSpPr>
        <p:spPr>
          <a:xfrm>
            <a:off x="1012724" y="147484"/>
            <a:ext cx="4709650" cy="1130710"/>
          </a:xfrm>
        </p:spPr>
        <p:txBody>
          <a:bodyPr/>
          <a:lstStyle/>
          <a:p>
            <a:r>
              <a:rPr lang="en-IN" u="sng" dirty="0">
                <a:solidFill>
                  <a:schemeClr val="accent6"/>
                </a:solidFill>
              </a:rPr>
              <a:t>NLP Techniques Used:</a:t>
            </a:r>
          </a:p>
        </p:txBody>
      </p:sp>
      <p:sp>
        <p:nvSpPr>
          <p:cNvPr id="9" name="Content Placeholder 8">
            <a:extLst>
              <a:ext uri="{FF2B5EF4-FFF2-40B4-BE49-F238E27FC236}">
                <a16:creationId xmlns:a16="http://schemas.microsoft.com/office/drawing/2014/main" id="{FCD853C7-DB91-77D5-1CB3-5641E4874149}"/>
              </a:ext>
            </a:extLst>
          </p:cNvPr>
          <p:cNvSpPr>
            <a:spLocks noGrp="1"/>
          </p:cNvSpPr>
          <p:nvPr>
            <p:ph sz="quarter" idx="12"/>
          </p:nvPr>
        </p:nvSpPr>
        <p:spPr>
          <a:xfrm>
            <a:off x="1012724" y="1278195"/>
            <a:ext cx="10422191" cy="4898670"/>
          </a:xfrm>
        </p:spPr>
        <p:txBody>
          <a:bodyPr>
            <a:normAutofit fontScale="85000" lnSpcReduction="20000"/>
          </a:bodyPr>
          <a:lstStyle/>
          <a:p>
            <a:pPr marL="0" indent="0">
              <a:buNone/>
            </a:pPr>
            <a:r>
              <a:rPr lang="en-IN" dirty="0"/>
              <a:t>Natural Language Processing helps computers understand resume content.</a:t>
            </a:r>
          </a:p>
          <a:p>
            <a:pPr marL="0" indent="0">
              <a:buNone/>
            </a:pPr>
            <a:r>
              <a:rPr lang="en-IN" u="sng" dirty="0"/>
              <a:t>Techniques:</a:t>
            </a:r>
          </a:p>
          <a:p>
            <a:r>
              <a:rPr lang="en-IN" b="1" dirty="0"/>
              <a:t>Tokenization</a:t>
            </a:r>
          </a:p>
          <a:p>
            <a:pPr marL="342900" indent="-342900">
              <a:buFont typeface="Courier New" panose="02070309020205020404" pitchFamily="49" charset="0"/>
              <a:buChar char="o"/>
            </a:pPr>
            <a:r>
              <a:rPr lang="en-IN" dirty="0"/>
              <a:t>Splits text into words.</a:t>
            </a:r>
          </a:p>
          <a:p>
            <a:pPr marL="0" indent="0">
              <a:buNone/>
            </a:pPr>
            <a:r>
              <a:rPr lang="en-IN" b="1" dirty="0"/>
              <a:t>2.Stemming</a:t>
            </a:r>
          </a:p>
          <a:p>
            <a:pPr marL="342900" indent="-342900">
              <a:buFont typeface="Courier New" panose="02070309020205020404" pitchFamily="49" charset="0"/>
              <a:buChar char="o"/>
            </a:pPr>
            <a:r>
              <a:rPr lang="en-IN" dirty="0"/>
              <a:t>Converts Running → Run</a:t>
            </a:r>
          </a:p>
          <a:p>
            <a:pPr marL="0" indent="0">
              <a:buNone/>
            </a:pPr>
            <a:r>
              <a:rPr lang="en-IN" b="1" dirty="0"/>
              <a:t>3.Lemmatization</a:t>
            </a:r>
          </a:p>
          <a:p>
            <a:pPr marL="0" indent="0">
              <a:buNone/>
            </a:pPr>
            <a:r>
              <a:rPr lang="en-IN" dirty="0"/>
              <a:t>Better word normalization</a:t>
            </a:r>
          </a:p>
          <a:p>
            <a:pPr marL="342900" indent="-342900">
              <a:buFont typeface="Courier New" panose="02070309020205020404" pitchFamily="49" charset="0"/>
              <a:buChar char="o"/>
            </a:pPr>
            <a:r>
              <a:rPr lang="en-IN" dirty="0"/>
              <a:t>Better → Good</a:t>
            </a:r>
          </a:p>
          <a:p>
            <a:pPr marL="0" indent="0">
              <a:buNone/>
            </a:pPr>
            <a:r>
              <a:rPr lang="en-IN" b="1" dirty="0"/>
              <a:t>4.Named Entity Recognition</a:t>
            </a:r>
          </a:p>
          <a:p>
            <a:pPr marL="342900" indent="-342900">
              <a:buFont typeface="Courier New" panose="02070309020205020404" pitchFamily="49" charset="0"/>
              <a:buChar char="o"/>
            </a:pPr>
            <a:r>
              <a:rPr lang="en-IN" dirty="0"/>
              <a:t>Extracts</a:t>
            </a:r>
          </a:p>
          <a:p>
            <a:pPr marL="342900" indent="-342900">
              <a:buFont typeface="Courier New" panose="02070309020205020404" pitchFamily="49" charset="0"/>
              <a:buChar char="o"/>
            </a:pPr>
            <a:r>
              <a:rPr lang="en-IN" dirty="0"/>
              <a:t>Name </a:t>
            </a:r>
          </a:p>
          <a:p>
            <a:pPr marL="342900" indent="-342900">
              <a:buFont typeface="Courier New" panose="02070309020205020404" pitchFamily="49" charset="0"/>
              <a:buChar char="o"/>
            </a:pPr>
            <a:r>
              <a:rPr lang="en-IN" dirty="0"/>
              <a:t>College </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30201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696D8179-8A1A-FBEA-CE58-E182B12A5573}"/>
              </a:ext>
            </a:extLst>
          </p:cNvPr>
          <p:cNvSpPr>
            <a:spLocks noGrp="1"/>
          </p:cNvSpPr>
          <p:nvPr>
            <p:ph sz="quarter" idx="11"/>
          </p:nvPr>
        </p:nvSpPr>
        <p:spPr>
          <a:xfrm>
            <a:off x="1199535" y="1189703"/>
            <a:ext cx="10078047" cy="5663631"/>
          </a:xfrm>
        </p:spPr>
        <p:txBody>
          <a:bodyPr>
            <a:normAutofit lnSpcReduction="10000"/>
          </a:bodyPr>
          <a:lstStyle/>
          <a:p>
            <a:pPr marL="342900" indent="-342900">
              <a:buFont typeface="Wingdings" panose="05000000000000000000" pitchFamily="2" charset="2"/>
              <a:buChar char="q"/>
            </a:pPr>
            <a:r>
              <a:rPr lang="en-IN" dirty="0"/>
              <a:t>Saves recruiter time </a:t>
            </a:r>
          </a:p>
          <a:p>
            <a:pPr marL="342900" indent="-342900">
              <a:buFont typeface="Wingdings" panose="05000000000000000000" pitchFamily="2" charset="2"/>
              <a:buChar char="q"/>
            </a:pPr>
            <a:r>
              <a:rPr lang="en-IN" dirty="0"/>
              <a:t>Improves hiring quality </a:t>
            </a:r>
          </a:p>
          <a:p>
            <a:pPr marL="342900" indent="-342900">
              <a:buFont typeface="Wingdings" panose="05000000000000000000" pitchFamily="2" charset="2"/>
              <a:buChar char="q"/>
            </a:pPr>
            <a:r>
              <a:rPr lang="en-IN" dirty="0"/>
              <a:t>Faster recruitment </a:t>
            </a:r>
          </a:p>
          <a:p>
            <a:pPr marL="342900" indent="-342900">
              <a:buFont typeface="Wingdings" panose="05000000000000000000" pitchFamily="2" charset="2"/>
              <a:buChar char="q"/>
            </a:pPr>
            <a:r>
              <a:rPr lang="en-IN" dirty="0"/>
              <a:t>Better candidate selection </a:t>
            </a:r>
          </a:p>
          <a:p>
            <a:pPr marL="342900" indent="-342900">
              <a:buFont typeface="Wingdings" panose="05000000000000000000" pitchFamily="2" charset="2"/>
              <a:buChar char="q"/>
            </a:pPr>
            <a:r>
              <a:rPr lang="en-IN" dirty="0"/>
              <a:t>Eliminates bias </a:t>
            </a:r>
          </a:p>
          <a:p>
            <a:pPr marL="342900" indent="-342900">
              <a:buFont typeface="Wingdings" panose="05000000000000000000" pitchFamily="2" charset="2"/>
              <a:buChar char="q"/>
            </a:pPr>
            <a:r>
              <a:rPr lang="en-IN" dirty="0"/>
              <a:t>Handles thousands of resumes </a:t>
            </a:r>
          </a:p>
          <a:p>
            <a:pPr marL="342900" indent="-342900">
              <a:buFont typeface="Wingdings" panose="05000000000000000000" pitchFamily="2" charset="2"/>
              <a:buChar char="q"/>
            </a:pPr>
            <a:r>
              <a:rPr lang="en-IN" dirty="0"/>
              <a:t>Easy integration with job portals </a:t>
            </a:r>
          </a:p>
          <a:p>
            <a:pPr marL="342900" indent="-342900">
              <a:buFont typeface="Wingdings" panose="05000000000000000000" pitchFamily="2" charset="2"/>
              <a:buChar char="q"/>
            </a:pPr>
            <a:r>
              <a:rPr lang="en-IN" dirty="0"/>
              <a:t>ATS-friendly </a:t>
            </a:r>
          </a:p>
          <a:p>
            <a:pPr marL="342900" indent="-342900">
              <a:buFont typeface="Wingdings" panose="05000000000000000000" pitchFamily="2" charset="2"/>
              <a:buChar char="q"/>
            </a:pPr>
            <a:r>
              <a:rPr lang="en-IN" dirty="0"/>
              <a:t>Accurate ranking </a:t>
            </a:r>
          </a:p>
          <a:p>
            <a:pPr marL="342900" indent="-342900">
              <a:buFont typeface="Wingdings" panose="05000000000000000000" pitchFamily="2" charset="2"/>
              <a:buChar char="q"/>
            </a:pPr>
            <a:r>
              <a:rPr lang="en-IN" dirty="0"/>
              <a:t>Cost effective </a:t>
            </a:r>
          </a:p>
          <a:p>
            <a:pPr marL="342900" indent="-342900">
              <a:buFont typeface="Wingdings" panose="05000000000000000000" pitchFamily="2" charset="2"/>
              <a:buChar char="q"/>
            </a:pPr>
            <a:endParaRPr lang="en-IN" dirty="0"/>
          </a:p>
        </p:txBody>
      </p:sp>
      <p:sp>
        <p:nvSpPr>
          <p:cNvPr id="13" name="Picture Placeholder 8">
            <a:extLst>
              <a:ext uri="{FF2B5EF4-FFF2-40B4-BE49-F238E27FC236}">
                <a16:creationId xmlns:a16="http://schemas.microsoft.com/office/drawing/2014/main" id="{04CF1044-F94E-8582-F998-60FA24595654}"/>
              </a:ext>
            </a:extLst>
          </p:cNvPr>
          <p:cNvSpPr>
            <a:spLocks noGrp="1"/>
          </p:cNvSpPr>
          <p:nvPr>
            <p:ph type="title"/>
          </p:nvPr>
        </p:nvSpPr>
        <p:spPr>
          <a:xfrm>
            <a:off x="1200150" y="68826"/>
            <a:ext cx="10077450" cy="963561"/>
          </a:xfrm>
        </p:spPr>
        <p:txBody>
          <a:bodyPr>
            <a:normAutofit/>
          </a:bodyPr>
          <a:lstStyle/>
          <a:p>
            <a:r>
              <a:rPr lang="en-IN" dirty="0"/>
              <a:t>Advantages:</a:t>
            </a:r>
          </a:p>
        </p:txBody>
      </p:sp>
    </p:spTree>
    <p:extLst>
      <p:ext uri="{BB962C8B-B14F-4D97-AF65-F5344CB8AC3E}">
        <p14:creationId xmlns:p14="http://schemas.microsoft.com/office/powerpoint/2010/main" val="82250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D2A850-E58A-858A-250D-E8489F0EA749}"/>
              </a:ext>
            </a:extLst>
          </p:cNvPr>
          <p:cNvSpPr>
            <a:spLocks noGrp="1"/>
          </p:cNvSpPr>
          <p:nvPr>
            <p:ph type="title"/>
          </p:nvPr>
        </p:nvSpPr>
        <p:spPr>
          <a:xfrm>
            <a:off x="1160206" y="262487"/>
            <a:ext cx="10117381" cy="1094366"/>
          </a:xfrm>
        </p:spPr>
        <p:txBody>
          <a:bodyPr/>
          <a:lstStyle/>
          <a:p>
            <a:r>
              <a:rPr lang="en-IN" u="sng" dirty="0"/>
              <a:t>Applications:</a:t>
            </a:r>
          </a:p>
        </p:txBody>
      </p:sp>
      <p:sp>
        <p:nvSpPr>
          <p:cNvPr id="11" name="Content Placeholder 10">
            <a:extLst>
              <a:ext uri="{FF2B5EF4-FFF2-40B4-BE49-F238E27FC236}">
                <a16:creationId xmlns:a16="http://schemas.microsoft.com/office/drawing/2014/main" id="{7D5DDB6E-E668-2868-0BFB-08E0C83DDF6A}"/>
              </a:ext>
            </a:extLst>
          </p:cNvPr>
          <p:cNvSpPr>
            <a:spLocks noGrp="1"/>
          </p:cNvSpPr>
          <p:nvPr>
            <p:ph sz="quarter" idx="11"/>
          </p:nvPr>
        </p:nvSpPr>
        <p:spPr>
          <a:xfrm>
            <a:off x="1160206" y="1356853"/>
            <a:ext cx="10425989" cy="4568085"/>
          </a:xfrm>
        </p:spPr>
        <p:txBody>
          <a:bodyPr>
            <a:normAutofit lnSpcReduction="10000"/>
          </a:bodyPr>
          <a:lstStyle/>
          <a:p>
            <a:pPr marL="342900" indent="-342900">
              <a:buFont typeface="Wingdings" panose="05000000000000000000" pitchFamily="2" charset="2"/>
              <a:buChar char="v"/>
            </a:pPr>
            <a:r>
              <a:rPr lang="en-IN" dirty="0"/>
              <a:t>LinkedIn </a:t>
            </a:r>
          </a:p>
          <a:p>
            <a:pPr marL="342900" indent="-342900">
              <a:buFont typeface="Wingdings" panose="05000000000000000000" pitchFamily="2" charset="2"/>
              <a:buChar char="v"/>
            </a:pPr>
            <a:r>
              <a:rPr lang="en-IN" dirty="0"/>
              <a:t>Naukri </a:t>
            </a:r>
          </a:p>
          <a:p>
            <a:pPr marL="342900" indent="-342900">
              <a:buFont typeface="Wingdings" panose="05000000000000000000" pitchFamily="2" charset="2"/>
              <a:buChar char="v"/>
            </a:pPr>
            <a:r>
              <a:rPr lang="en-IN" dirty="0"/>
              <a:t>Indeed </a:t>
            </a:r>
          </a:p>
          <a:p>
            <a:pPr marL="342900" indent="-342900">
              <a:buFont typeface="Wingdings" panose="05000000000000000000" pitchFamily="2" charset="2"/>
              <a:buChar char="v"/>
            </a:pPr>
            <a:r>
              <a:rPr lang="en-IN" dirty="0"/>
              <a:t>Monster </a:t>
            </a:r>
          </a:p>
          <a:p>
            <a:pPr marL="342900" indent="-342900">
              <a:buFont typeface="Wingdings" panose="05000000000000000000" pitchFamily="2" charset="2"/>
              <a:buChar char="v"/>
            </a:pPr>
            <a:r>
              <a:rPr lang="en-IN" dirty="0"/>
              <a:t>Company Career Portals </a:t>
            </a:r>
          </a:p>
          <a:p>
            <a:pPr marL="342900" indent="-342900">
              <a:buFont typeface="Wingdings" panose="05000000000000000000" pitchFamily="2" charset="2"/>
              <a:buChar char="v"/>
            </a:pPr>
            <a:r>
              <a:rPr lang="en-IN" dirty="0"/>
              <a:t>College Placement Cells </a:t>
            </a:r>
          </a:p>
          <a:p>
            <a:pPr marL="342900" indent="-342900">
              <a:buFont typeface="Wingdings" panose="05000000000000000000" pitchFamily="2" charset="2"/>
              <a:buChar char="v"/>
            </a:pPr>
            <a:r>
              <a:rPr lang="en-IN" dirty="0"/>
              <a:t>HR Consultancy Firms </a:t>
            </a:r>
          </a:p>
          <a:p>
            <a:pPr marL="342900" indent="-342900">
              <a:buFont typeface="Wingdings" panose="05000000000000000000" pitchFamily="2" charset="2"/>
              <a:buChar char="v"/>
            </a:pPr>
            <a:r>
              <a:rPr lang="en-IN" dirty="0"/>
              <a:t>Government Recruitment </a:t>
            </a:r>
          </a:p>
          <a:p>
            <a:pPr marL="342900" indent="-342900">
              <a:buFont typeface="Wingdings" panose="05000000000000000000" pitchFamily="2" charset="2"/>
              <a:buChar char="v"/>
            </a:pPr>
            <a:r>
              <a:rPr lang="en-IN" dirty="0"/>
              <a:t>Campus Recruitment </a:t>
            </a:r>
          </a:p>
          <a:p>
            <a:pPr marL="342900" indent="-342900">
              <a:buFont typeface="Wingdings" panose="05000000000000000000" pitchFamily="2" charset="2"/>
              <a:buChar char="v"/>
            </a:pPr>
            <a:r>
              <a:rPr lang="en-IN" dirty="0"/>
              <a:t>Freelancing Platforms </a:t>
            </a:r>
          </a:p>
          <a:p>
            <a:pPr marL="342900" indent="-342900">
              <a:buFont typeface="Wingdings" panose="05000000000000000000" pitchFamily="2" charset="2"/>
              <a:buChar char="v"/>
            </a:pPr>
            <a:endParaRPr lang="en-IN" dirty="0"/>
          </a:p>
        </p:txBody>
      </p:sp>
    </p:spTree>
    <p:extLst>
      <p:ext uri="{BB962C8B-B14F-4D97-AF65-F5344CB8AC3E}">
        <p14:creationId xmlns:p14="http://schemas.microsoft.com/office/powerpoint/2010/main" val="222454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520165-CA23-C9E7-C4A0-492F4BBB4700}"/>
              </a:ext>
            </a:extLst>
          </p:cNvPr>
          <p:cNvSpPr>
            <a:spLocks noGrp="1"/>
          </p:cNvSpPr>
          <p:nvPr>
            <p:ph type="title"/>
          </p:nvPr>
        </p:nvSpPr>
        <p:spPr>
          <a:xfrm>
            <a:off x="934066" y="262488"/>
            <a:ext cx="10343522" cy="986210"/>
          </a:xfrm>
        </p:spPr>
        <p:txBody>
          <a:bodyPr/>
          <a:lstStyle/>
          <a:p>
            <a:r>
              <a:rPr lang="en-US" u="sng" dirty="0"/>
              <a:t> </a:t>
            </a:r>
            <a:r>
              <a:rPr lang="en-IN" u="sng" dirty="0"/>
              <a:t>Future Enhancements:</a:t>
            </a:r>
          </a:p>
        </p:txBody>
      </p:sp>
      <p:sp>
        <p:nvSpPr>
          <p:cNvPr id="11" name="Content Placeholder 10">
            <a:extLst>
              <a:ext uri="{FF2B5EF4-FFF2-40B4-BE49-F238E27FC236}">
                <a16:creationId xmlns:a16="http://schemas.microsoft.com/office/drawing/2014/main" id="{C39F7FEC-6249-D34A-D093-F866590155BC}"/>
              </a:ext>
            </a:extLst>
          </p:cNvPr>
          <p:cNvSpPr>
            <a:spLocks noGrp="1"/>
          </p:cNvSpPr>
          <p:nvPr>
            <p:ph sz="quarter" idx="10"/>
          </p:nvPr>
        </p:nvSpPr>
        <p:spPr>
          <a:xfrm>
            <a:off x="1061885" y="1081548"/>
            <a:ext cx="9802760" cy="4852721"/>
          </a:xfrm>
        </p:spPr>
        <p:txBody>
          <a:bodyPr>
            <a:normAutofit fontScale="77500" lnSpcReduction="20000"/>
          </a:bodyPr>
          <a:lstStyle/>
          <a:p>
            <a:pPr marL="0" indent="0">
              <a:buNone/>
            </a:pPr>
            <a:r>
              <a:rPr lang="en-IN" sz="2600" dirty="0"/>
              <a:t>Future improvements include:</a:t>
            </a:r>
          </a:p>
          <a:p>
            <a:r>
              <a:rPr lang="en-IN" dirty="0"/>
              <a:t>Deep Learning Models </a:t>
            </a:r>
          </a:p>
          <a:p>
            <a:r>
              <a:rPr lang="en-IN" dirty="0"/>
              <a:t>Large Language Models (LLMs) </a:t>
            </a:r>
          </a:p>
          <a:p>
            <a:r>
              <a:rPr lang="en-IN" dirty="0"/>
              <a:t>AI Interview Recommendation </a:t>
            </a:r>
          </a:p>
          <a:p>
            <a:r>
              <a:rPr lang="en-IN" dirty="0"/>
              <a:t>Voice Resume Analysis </a:t>
            </a:r>
          </a:p>
          <a:p>
            <a:r>
              <a:rPr lang="en-IN" dirty="0"/>
              <a:t>Video Resume Evaluation </a:t>
            </a:r>
          </a:p>
          <a:p>
            <a:r>
              <a:rPr lang="en-IN" dirty="0"/>
              <a:t>Personality Prediction </a:t>
            </a:r>
          </a:p>
          <a:p>
            <a:r>
              <a:rPr lang="en-IN" dirty="0"/>
              <a:t>AI Chatbot for Candidates </a:t>
            </a:r>
          </a:p>
          <a:p>
            <a:r>
              <a:rPr lang="en-IN" dirty="0"/>
              <a:t>Real-time Skill Recommendation </a:t>
            </a:r>
          </a:p>
          <a:p>
            <a:r>
              <a:rPr lang="en-IN" dirty="0"/>
              <a:t>Fraud Detection </a:t>
            </a:r>
          </a:p>
          <a:p>
            <a:r>
              <a:rPr lang="en-IN" dirty="0"/>
              <a:t>Blockchain-based Resume Verification </a:t>
            </a:r>
          </a:p>
          <a:p>
            <a:r>
              <a:rPr lang="en-IN" dirty="0"/>
              <a:t>Multilingual Resume Support </a:t>
            </a:r>
          </a:p>
          <a:p>
            <a:pPr marL="0" indent="0">
              <a:buNone/>
            </a:pPr>
            <a:endParaRPr lang="en-IN" dirty="0"/>
          </a:p>
        </p:txBody>
      </p:sp>
    </p:spTree>
    <p:extLst>
      <p:ext uri="{BB962C8B-B14F-4D97-AF65-F5344CB8AC3E}">
        <p14:creationId xmlns:p14="http://schemas.microsoft.com/office/powerpoint/2010/main" val="95213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9FA07B-E725-C42B-A285-C6E52B0E5370}"/>
              </a:ext>
            </a:extLst>
          </p:cNvPr>
          <p:cNvSpPr>
            <a:spLocks noGrp="1"/>
          </p:cNvSpPr>
          <p:nvPr>
            <p:ph type="title"/>
          </p:nvPr>
        </p:nvSpPr>
        <p:spPr>
          <a:xfrm>
            <a:off x="3844413" y="2408904"/>
            <a:ext cx="6027174" cy="1533832"/>
          </a:xfrm>
        </p:spPr>
        <p:txBody>
          <a:bodyPr>
            <a:normAutofit/>
          </a:bodyPr>
          <a:lstStyle/>
          <a:p>
            <a:r>
              <a:rPr lang="en-US" sz="7200" dirty="0">
                <a:latin typeface="Baskerville Old Face" panose="02020602080505020303" pitchFamily="18" charset="0"/>
              </a:rPr>
              <a:t>THANK YOU</a:t>
            </a:r>
            <a:endParaRPr lang="en-IN" sz="7200" dirty="0">
              <a:latin typeface="Baskerville Old Face" panose="02020602080505020303" pitchFamily="18" charset="0"/>
            </a:endParaRP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{29967F4C-764E-469F-AE57-4B21A5F020F3}TF3977e381-cba5-49b1-ba43-b5d865517af907ebbda9_win32-372d4d6ae720</Template>
  <TotalTime>84</TotalTime>
  <Words>392</Words>
  <Application>Microsoft Office PowerPoint</Application>
  <PresentationFormat>Widescreen</PresentationFormat>
  <Paragraphs>104</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Bahnschrift SemiBold Condensed</vt:lpstr>
      <vt:lpstr>Baskerville Old Face</vt:lpstr>
      <vt:lpstr>Calibri</vt:lpstr>
      <vt:lpstr>Courier New</vt:lpstr>
      <vt:lpstr>Tisa Offc Serif Pro</vt:lpstr>
      <vt:lpstr>Univers Light</vt:lpstr>
      <vt:lpstr>Wingdings</vt:lpstr>
      <vt:lpstr>Custom</vt:lpstr>
      <vt:lpstr>Automated Resume Analyzer for Job Portals                               -PAMUDURTHI PRADEEP RAJU</vt:lpstr>
      <vt:lpstr>What is an Automated Resume Analyzer?</vt:lpstr>
      <vt:lpstr>Problem Statement</vt:lpstr>
      <vt:lpstr>Objectives:</vt:lpstr>
      <vt:lpstr>Existing System:</vt:lpstr>
      <vt:lpstr>Technologies Used:</vt:lpstr>
      <vt:lpstr>NLP Techniques Used:</vt:lpstr>
      <vt:lpstr>Advantages:</vt:lpstr>
      <vt:lpstr>Applications:</vt:lpstr>
      <vt:lpstr> 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Raju Pamudurthi</dc:creator>
  <cp:lastModifiedBy>Pradeep Raju Pamudurthi</cp:lastModifiedBy>
  <cp:revision>1</cp:revision>
  <dcterms:created xsi:type="dcterms:W3CDTF">2026-07-26T09:13:35Z</dcterms:created>
  <dcterms:modified xsi:type="dcterms:W3CDTF">2026-07-26T10:38:11Z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